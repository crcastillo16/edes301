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1" r:id="rId2"/>
    <p:sldId id="367" r:id="rId3"/>
    <p:sldId id="368" r:id="rId4"/>
    <p:sldId id="370" r:id="rId5"/>
    <p:sldId id="3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7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6" autoAdjust="0"/>
    <p:restoredTop sz="94790" autoAdjust="0"/>
  </p:normalViewPr>
  <p:slideViewPr>
    <p:cSldViewPr>
      <p:cViewPr varScale="1">
        <p:scale>
          <a:sx n="53" d="100"/>
          <a:sy n="53" d="100"/>
        </p:scale>
        <p:origin x="77" y="87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04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10/4/2026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10/4/2026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afruit.com/product/1334?srsltid=AU7gw4WtW3GIkzt8NsHEu7ddisuv012--SP7927BKlD0fxF_SfNch-74" TargetMode="External"/><Relationship Id="rId2" Type="http://schemas.openxmlformats.org/officeDocument/2006/relationships/hyperlink" Target="https://www.amazon.com/dp/B094JC48HQ?lv=shuf&amp;channelId=500&amp;plpRedirect=mhFallbac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Inclusive, Low-Resource Pulse Oximeter 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/>
          <a:lstStyle/>
          <a:p>
            <a:r>
              <a:rPr lang="en-US" dirty="0"/>
              <a:t>10/04/2026</a:t>
            </a:r>
          </a:p>
          <a:p>
            <a:r>
              <a:rPr lang="en-US" dirty="0"/>
              <a:t>Cristian Castillo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2998"/>
            <a:ext cx="10972800" cy="1428752"/>
          </a:xfrm>
        </p:spPr>
        <p:txBody>
          <a:bodyPr>
            <a:normAutofit/>
          </a:bodyPr>
          <a:lstStyle/>
          <a:p>
            <a:pPr marL="274320" lvl="1" indent="0" algn="ctr">
              <a:buNone/>
            </a:pPr>
            <a:r>
              <a:rPr lang="en-US" b="1" i="1" dirty="0">
                <a:solidFill>
                  <a:srgbClr val="C00000"/>
                </a:solidFill>
              </a:rPr>
              <a:t>Blood oxygen level </a:t>
            </a:r>
            <a:r>
              <a:rPr lang="en-US" dirty="0"/>
              <a:t>is a physiological stat that reports how much oxygen your red blood vessels are carrying from your lungs to every other tissue in your body.</a:t>
            </a:r>
          </a:p>
          <a:p>
            <a:pPr marL="274320" lvl="1" indent="0" algn="ctr">
              <a:buNone/>
            </a:pPr>
            <a:r>
              <a:rPr lang="en-US" dirty="0"/>
              <a:t>Low oxygen levels can be signs of </a:t>
            </a:r>
            <a:r>
              <a:rPr lang="en-US" b="1" dirty="0"/>
              <a:t>hypoxia</a:t>
            </a:r>
            <a:r>
              <a:rPr lang="en-US" dirty="0"/>
              <a:t> and report a </a:t>
            </a:r>
            <a:r>
              <a:rPr lang="en-US" b="1" dirty="0"/>
              <a:t>greater issue </a:t>
            </a:r>
            <a:r>
              <a:rPr lang="en-US" dirty="0"/>
              <a:t>in your body. Thus, a dropping blood oxygen level is a great sign for the need to receive treatment prior to organ failure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78482F-BCF7-F7FA-C3FD-3ECC8B2EEC25}"/>
              </a:ext>
            </a:extLst>
          </p:cNvPr>
          <p:cNvSpPr/>
          <p:nvPr/>
        </p:nvSpPr>
        <p:spPr>
          <a:xfrm>
            <a:off x="609600" y="4000500"/>
            <a:ext cx="11201400" cy="1981200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74D160-A8CB-8A3B-40F7-BE1257FC5A03}"/>
              </a:ext>
            </a:extLst>
          </p:cNvPr>
          <p:cNvSpPr txBox="1">
            <a:spLocks/>
          </p:cNvSpPr>
          <p:nvPr/>
        </p:nvSpPr>
        <p:spPr>
          <a:xfrm>
            <a:off x="609600" y="4381500"/>
            <a:ext cx="10972800" cy="14287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1" indent="0" algn="ctr">
              <a:buFont typeface="Arial" pitchFamily="34" charset="0"/>
              <a:buNone/>
            </a:pPr>
            <a:r>
              <a:rPr lang="en-US" sz="2800" dirty="0">
                <a:solidFill>
                  <a:schemeClr val="bg1"/>
                </a:solidFill>
              </a:rPr>
              <a:t>Currently, </a:t>
            </a:r>
            <a:r>
              <a:rPr lang="en-US" sz="2800" b="1" i="1" dirty="0">
                <a:solidFill>
                  <a:schemeClr val="bg1"/>
                </a:solidFill>
              </a:rPr>
              <a:t>there exists no pulse oximeter that is commercially available that eliminates racial bias.</a:t>
            </a:r>
            <a:r>
              <a:rPr lang="en-US" sz="2800" dirty="0">
                <a:solidFill>
                  <a:schemeClr val="bg1"/>
                </a:solidFill>
              </a:rPr>
              <a:t> There exists a need to develop a low-cost oximeter that can be used across skin pigmentations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Picture 6" descr="How medicine discriminates against non-white people and women">
            <a:extLst>
              <a:ext uri="{FF2B5EF4-FFF2-40B4-BE49-F238E27FC236}">
                <a16:creationId xmlns:a16="http://schemas.microsoft.com/office/drawing/2014/main" id="{43653BC7-3661-4194-6370-4BA09253F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401625"/>
            <a:ext cx="2552700" cy="1435894"/>
          </a:xfrm>
          <a:prstGeom prst="rect">
            <a:avLst/>
          </a:prstGeom>
        </p:spPr>
      </p:pic>
      <p:pic>
        <p:nvPicPr>
          <p:cNvPr id="8" name="Picture 7" descr="Understanding How to Use a Pulse Oximeter | CMI Health – CMI Health Store">
            <a:extLst>
              <a:ext uri="{FF2B5EF4-FFF2-40B4-BE49-F238E27FC236}">
                <a16:creationId xmlns:a16="http://schemas.microsoft.com/office/drawing/2014/main" id="{E8C3F462-3400-EA19-40A9-7EA04033F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282" y="2401624"/>
            <a:ext cx="2261218" cy="1427427"/>
          </a:xfrm>
          <a:prstGeom prst="rect">
            <a:avLst/>
          </a:prstGeom>
        </p:spPr>
      </p:pic>
      <p:pic>
        <p:nvPicPr>
          <p:cNvPr id="9" name="Picture 8" descr="OXY 500 BT - Bluetooth® Pulse Oximeter - Microlife AG">
            <a:extLst>
              <a:ext uri="{FF2B5EF4-FFF2-40B4-BE49-F238E27FC236}">
                <a16:creationId xmlns:a16="http://schemas.microsoft.com/office/drawing/2014/main" id="{F7969BD8-7C28-41AD-B118-D3FABD8F7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532" y="2147094"/>
            <a:ext cx="2234406" cy="223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1"/>
            <a:ext cx="10972800" cy="914401"/>
          </a:xfrm>
        </p:spPr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EBF5F5-1E7E-9373-1113-37C65E4CBD56}"/>
              </a:ext>
            </a:extLst>
          </p:cNvPr>
          <p:cNvSpPr/>
          <p:nvPr/>
        </p:nvSpPr>
        <p:spPr>
          <a:xfrm>
            <a:off x="5353050" y="982982"/>
            <a:ext cx="2171700" cy="61721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Power (3.3 V) (</a:t>
            </a:r>
            <a:r>
              <a:rPr lang="en-US" dirty="0" err="1"/>
              <a:t>PocketBeagle</a:t>
            </a:r>
            <a:r>
              <a:rPr lang="en-US" dirty="0"/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4993DE-5664-392A-1C39-CE0471882C5F}"/>
              </a:ext>
            </a:extLst>
          </p:cNvPr>
          <p:cNvSpPr/>
          <p:nvPr/>
        </p:nvSpPr>
        <p:spPr>
          <a:xfrm>
            <a:off x="685800" y="2171700"/>
            <a:ext cx="13716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LED’s</a:t>
            </a:r>
          </a:p>
          <a:p>
            <a:pPr algn="ctr"/>
            <a:r>
              <a:rPr lang="en-US" sz="1200" dirty="0"/>
              <a:t>Red + IR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3D2B36-4516-D4B4-ED3E-7D5EEBE1E580}"/>
              </a:ext>
            </a:extLst>
          </p:cNvPr>
          <p:cNvSpPr/>
          <p:nvPr/>
        </p:nvSpPr>
        <p:spPr>
          <a:xfrm>
            <a:off x="2628900" y="2171700"/>
            <a:ext cx="13716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Photodiode</a:t>
            </a:r>
          </a:p>
          <a:p>
            <a:pPr algn="ctr"/>
            <a:r>
              <a:rPr lang="en-US" sz="1200" dirty="0"/>
              <a:t>18-bit ADC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FACC7B-6F46-DACC-6CB0-B11750C10F7D}"/>
              </a:ext>
            </a:extLst>
          </p:cNvPr>
          <p:cNvSpPr/>
          <p:nvPr/>
        </p:nvSpPr>
        <p:spPr>
          <a:xfrm>
            <a:off x="533400" y="1889759"/>
            <a:ext cx="3657600" cy="1325881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F6CB4-F9C7-A807-61E9-93F02EFA503B}"/>
              </a:ext>
            </a:extLst>
          </p:cNvPr>
          <p:cNvSpPr txBox="1"/>
          <p:nvPr/>
        </p:nvSpPr>
        <p:spPr>
          <a:xfrm>
            <a:off x="703580" y="1889759"/>
            <a:ext cx="1925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MAX30102 module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1847E2-FCE4-13AA-0C07-296E1AB0A3AF}"/>
              </a:ext>
            </a:extLst>
          </p:cNvPr>
          <p:cNvSpPr/>
          <p:nvPr/>
        </p:nvSpPr>
        <p:spPr>
          <a:xfrm>
            <a:off x="5867400" y="1889757"/>
            <a:ext cx="1143000" cy="1325881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A44884-7562-743A-3B34-22030705822B}"/>
              </a:ext>
            </a:extLst>
          </p:cNvPr>
          <p:cNvSpPr txBox="1"/>
          <p:nvPr/>
        </p:nvSpPr>
        <p:spPr>
          <a:xfrm>
            <a:off x="6134100" y="2395963"/>
            <a:ext cx="685800" cy="313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Finger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C8E6E72-1912-8A6C-3B0B-1043DBB75E95}"/>
              </a:ext>
            </a:extLst>
          </p:cNvPr>
          <p:cNvSpPr/>
          <p:nvPr/>
        </p:nvSpPr>
        <p:spPr>
          <a:xfrm>
            <a:off x="8282940" y="1889757"/>
            <a:ext cx="3314700" cy="1325881"/>
          </a:xfrm>
          <a:prstGeom prst="roundRect">
            <a:avLst/>
          </a:prstGeom>
          <a:solidFill>
            <a:srgbClr val="9F67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TCS34725</a:t>
            </a:r>
          </a:p>
          <a:p>
            <a:pPr algn="ctr"/>
            <a:r>
              <a:rPr lang="en-US" dirty="0"/>
              <a:t>RGB color sensor</a:t>
            </a:r>
          </a:p>
          <a:p>
            <a:pPr algn="ctr"/>
            <a:r>
              <a:rPr lang="en-US" dirty="0"/>
              <a:t>White LED, skin tone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C1E2198-D618-43AA-9826-FBC9E9C73D14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4255771" y="-293370"/>
            <a:ext cx="289558" cy="4076700"/>
          </a:xfrm>
          <a:prstGeom prst="bentConnector3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758AA7C9-ADD0-5034-B928-0BD2CED25CE1}"/>
              </a:ext>
            </a:extLst>
          </p:cNvPr>
          <p:cNvCxnSpPr>
            <a:stCxn id="7" idx="2"/>
            <a:endCxn id="17" idx="0"/>
          </p:cNvCxnSpPr>
          <p:nvPr/>
        </p:nvCxnSpPr>
        <p:spPr>
          <a:xfrm rot="16200000" flipH="1">
            <a:off x="8044817" y="-5716"/>
            <a:ext cx="289556" cy="3501390"/>
          </a:xfrm>
          <a:prstGeom prst="bentConnector3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18B7431-601F-9879-1F49-8F6E53D4DBA6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6438900" y="1600201"/>
            <a:ext cx="0" cy="289556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5A39B6C-550A-84A4-646E-8F013F89092C}"/>
              </a:ext>
            </a:extLst>
          </p:cNvPr>
          <p:cNvSpPr/>
          <p:nvPr/>
        </p:nvSpPr>
        <p:spPr>
          <a:xfrm>
            <a:off x="457200" y="3695701"/>
            <a:ext cx="11277600" cy="13258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418FFA-1925-D238-C127-990D82F73008}"/>
              </a:ext>
            </a:extLst>
          </p:cNvPr>
          <p:cNvSpPr txBox="1"/>
          <p:nvPr/>
        </p:nvSpPr>
        <p:spPr>
          <a:xfrm>
            <a:off x="627380" y="3695701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PocketBeagle</a:t>
            </a:r>
            <a:r>
              <a:rPr lang="en-US" dirty="0"/>
              <a:t> (software pipeline)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9488FA9-51C9-B04F-8811-2831A566154E}"/>
              </a:ext>
            </a:extLst>
          </p:cNvPr>
          <p:cNvSpPr/>
          <p:nvPr/>
        </p:nvSpPr>
        <p:spPr>
          <a:xfrm>
            <a:off x="800100" y="4065033"/>
            <a:ext cx="3162300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Signal Filtering </a:t>
            </a:r>
          </a:p>
          <a:p>
            <a:pPr algn="ctr"/>
            <a:r>
              <a:rPr lang="en-US" sz="1100" dirty="0"/>
              <a:t>(AC/DC Extraction)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2A6595A-4372-9D4D-5DDF-151FBD4FF194}"/>
              </a:ext>
            </a:extLst>
          </p:cNvPr>
          <p:cNvSpPr/>
          <p:nvPr/>
        </p:nvSpPr>
        <p:spPr>
          <a:xfrm>
            <a:off x="800100" y="4565414"/>
            <a:ext cx="3162300" cy="369332"/>
          </a:xfrm>
          <a:prstGeom prst="roundRect">
            <a:avLst/>
          </a:prstGeom>
          <a:solidFill>
            <a:srgbClr val="9F67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Reference Data</a:t>
            </a:r>
          </a:p>
          <a:p>
            <a:pPr algn="ctr"/>
            <a:r>
              <a:rPr lang="en-US" sz="1100" dirty="0"/>
              <a:t>(Ground-Truth Pairs)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9610AF5-C6D7-526A-20BF-B1D1A3FB014C}"/>
              </a:ext>
            </a:extLst>
          </p:cNvPr>
          <p:cNvSpPr/>
          <p:nvPr/>
        </p:nvSpPr>
        <p:spPr>
          <a:xfrm>
            <a:off x="4721282" y="4065033"/>
            <a:ext cx="3162300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Ratio of ratios</a:t>
            </a:r>
          </a:p>
          <a:p>
            <a:pPr algn="ctr"/>
            <a:r>
              <a:rPr lang="en-US" sz="1400" dirty="0"/>
              <a:t>(R from red and IR)</a:t>
            </a:r>
            <a:endParaRPr lang="en-US" sz="11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0D3B8F5-2683-DEF8-F5B7-C9BD2221733D}"/>
              </a:ext>
            </a:extLst>
          </p:cNvPr>
          <p:cNvSpPr/>
          <p:nvPr/>
        </p:nvSpPr>
        <p:spPr>
          <a:xfrm>
            <a:off x="4721282" y="4559587"/>
            <a:ext cx="3162300" cy="369332"/>
          </a:xfrm>
          <a:prstGeom prst="roundRect">
            <a:avLst/>
          </a:prstGeom>
          <a:solidFill>
            <a:srgbClr val="9F67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Calibration model</a:t>
            </a:r>
          </a:p>
          <a:p>
            <a:pPr algn="ctr"/>
            <a:r>
              <a:rPr lang="en-US" sz="1400" dirty="0"/>
              <a:t>(corrected Sp02)</a:t>
            </a:r>
            <a:endParaRPr lang="en-US" sz="11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E80AAB0-27DA-87FF-AE43-C3421C2A797A}"/>
              </a:ext>
            </a:extLst>
          </p:cNvPr>
          <p:cNvSpPr/>
          <p:nvPr/>
        </p:nvSpPr>
        <p:spPr>
          <a:xfrm>
            <a:off x="8382000" y="4065033"/>
            <a:ext cx="3162300" cy="369332"/>
          </a:xfrm>
          <a:prstGeom prst="roundRect">
            <a:avLst/>
          </a:prstGeom>
          <a:solidFill>
            <a:srgbClr val="9F67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Tone classifier</a:t>
            </a:r>
          </a:p>
          <a:p>
            <a:pPr algn="ctr"/>
            <a:r>
              <a:rPr lang="en-US" sz="1400" dirty="0"/>
              <a:t>(RGB to tone score)</a:t>
            </a:r>
            <a:endParaRPr lang="en-US" sz="11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5691523-604F-08AF-84D1-4216167DED08}"/>
              </a:ext>
            </a:extLst>
          </p:cNvPr>
          <p:cNvCxnSpPr>
            <a:stCxn id="17" idx="2"/>
            <a:endCxn id="38" idx="0"/>
          </p:cNvCxnSpPr>
          <p:nvPr/>
        </p:nvCxnSpPr>
        <p:spPr>
          <a:xfrm>
            <a:off x="9940290" y="3215638"/>
            <a:ext cx="22860" cy="84939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20537B7-39E8-52A0-0908-6742E8437280}"/>
              </a:ext>
            </a:extLst>
          </p:cNvPr>
          <p:cNvCxnSpPr>
            <a:cxnSpLocks/>
            <a:stCxn id="11" idx="2"/>
            <a:endCxn id="30" idx="0"/>
          </p:cNvCxnSpPr>
          <p:nvPr/>
        </p:nvCxnSpPr>
        <p:spPr>
          <a:xfrm>
            <a:off x="2362200" y="3215640"/>
            <a:ext cx="19050" cy="84939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148C5D8-2E67-B921-D7C9-E5BFEC9B8EAA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>
            <a:off x="3962400" y="4249699"/>
            <a:ext cx="7588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DBB52AA-6D90-488C-2730-7E10B3D08D14}"/>
              </a:ext>
            </a:extLst>
          </p:cNvPr>
          <p:cNvCxnSpPr>
            <a:stCxn id="38" idx="2"/>
            <a:endCxn id="36" idx="3"/>
          </p:cNvCxnSpPr>
          <p:nvPr/>
        </p:nvCxnSpPr>
        <p:spPr>
          <a:xfrm rot="5400000">
            <a:off x="8768422" y="3549525"/>
            <a:ext cx="309888" cy="2079568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C67BE49-DDF9-EBAF-7D98-7606F0EB1A7B}"/>
              </a:ext>
            </a:extLst>
          </p:cNvPr>
          <p:cNvCxnSpPr>
            <a:stCxn id="34" idx="2"/>
            <a:endCxn id="36" idx="0"/>
          </p:cNvCxnSpPr>
          <p:nvPr/>
        </p:nvCxnSpPr>
        <p:spPr>
          <a:xfrm>
            <a:off x="6302432" y="4434365"/>
            <a:ext cx="0" cy="12522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B7A13AC-4679-A42C-3161-14B84CE69D20}"/>
              </a:ext>
            </a:extLst>
          </p:cNvPr>
          <p:cNvCxnSpPr>
            <a:stCxn id="32" idx="3"/>
            <a:endCxn id="36" idx="1"/>
          </p:cNvCxnSpPr>
          <p:nvPr/>
        </p:nvCxnSpPr>
        <p:spPr>
          <a:xfrm flipV="1">
            <a:off x="3962400" y="4744253"/>
            <a:ext cx="758882" cy="582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6856073-7322-DE14-6B51-23B679516952}"/>
              </a:ext>
            </a:extLst>
          </p:cNvPr>
          <p:cNvSpPr/>
          <p:nvPr/>
        </p:nvSpPr>
        <p:spPr>
          <a:xfrm>
            <a:off x="800100" y="5501640"/>
            <a:ext cx="3200400" cy="609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Display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Sp02, pulse rate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3156CB4-E918-67AB-F272-BC0E4E7C7213}"/>
              </a:ext>
            </a:extLst>
          </p:cNvPr>
          <p:cNvSpPr/>
          <p:nvPr/>
        </p:nvSpPr>
        <p:spPr>
          <a:xfrm>
            <a:off x="8382000" y="5482917"/>
            <a:ext cx="3200400" cy="609600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log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SD card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9361A0BE-DE49-93A1-50C1-F4D4479566B4}"/>
              </a:ext>
            </a:extLst>
          </p:cNvPr>
          <p:cNvCxnSpPr>
            <a:stCxn id="36" idx="2"/>
            <a:endCxn id="53" idx="0"/>
          </p:cNvCxnSpPr>
          <p:nvPr/>
        </p:nvCxnSpPr>
        <p:spPr>
          <a:xfrm rot="5400000">
            <a:off x="4065006" y="3264213"/>
            <a:ext cx="572721" cy="3902132"/>
          </a:xfrm>
          <a:prstGeom prst="bentConnector3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7C0265CD-B242-F6B1-5FDD-695A9596734F}"/>
              </a:ext>
            </a:extLst>
          </p:cNvPr>
          <p:cNvCxnSpPr>
            <a:stCxn id="36" idx="2"/>
            <a:endCxn id="57" idx="0"/>
          </p:cNvCxnSpPr>
          <p:nvPr/>
        </p:nvCxnSpPr>
        <p:spPr>
          <a:xfrm rot="16200000" flipH="1">
            <a:off x="7865317" y="3366034"/>
            <a:ext cx="553998" cy="3679768"/>
          </a:xfrm>
          <a:prstGeom prst="bentConnector3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B70A1D-A374-88C9-0DB0-CB48862E6B83}"/>
              </a:ext>
            </a:extLst>
          </p:cNvPr>
          <p:cNvSpPr/>
          <p:nvPr/>
        </p:nvSpPr>
        <p:spPr>
          <a:xfrm>
            <a:off x="1411941" y="2381248"/>
            <a:ext cx="1981200" cy="91440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Power (3.3 V) (</a:t>
            </a:r>
            <a:r>
              <a:rPr lang="en-US" dirty="0" err="1"/>
              <a:t>PocketBeagle</a:t>
            </a:r>
            <a:r>
              <a:rPr lang="en-US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CAAF90-84FC-C19E-2004-D5070837948C}"/>
              </a:ext>
            </a:extLst>
          </p:cNvPr>
          <p:cNvSpPr/>
          <p:nvPr/>
        </p:nvSpPr>
        <p:spPr>
          <a:xfrm>
            <a:off x="4002741" y="1216510"/>
            <a:ext cx="1600200" cy="800100"/>
          </a:xfrm>
          <a:prstGeom prst="rect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LED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85653C-A51A-A313-1F17-CEBC6B544C34}"/>
              </a:ext>
            </a:extLst>
          </p:cNvPr>
          <p:cNvSpPr/>
          <p:nvPr/>
        </p:nvSpPr>
        <p:spPr>
          <a:xfrm>
            <a:off x="4002741" y="2438400"/>
            <a:ext cx="1600200" cy="800100"/>
          </a:xfrm>
          <a:prstGeom prst="rect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 LED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8FAE91-CA1A-2AFC-1FE3-9F29ECA2F3D0}"/>
              </a:ext>
            </a:extLst>
          </p:cNvPr>
          <p:cNvSpPr/>
          <p:nvPr/>
        </p:nvSpPr>
        <p:spPr>
          <a:xfrm>
            <a:off x="6098241" y="838200"/>
            <a:ext cx="990600" cy="3766519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E1CE8E-9953-8EC8-CA7E-E02B29989FB8}"/>
              </a:ext>
            </a:extLst>
          </p:cNvPr>
          <p:cNvSpPr/>
          <p:nvPr/>
        </p:nvSpPr>
        <p:spPr>
          <a:xfrm>
            <a:off x="7581900" y="1219200"/>
            <a:ext cx="1874520" cy="800099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Photodiode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9A5B06-52EE-9B9C-83D7-EAE427A7164E}"/>
              </a:ext>
            </a:extLst>
          </p:cNvPr>
          <p:cNvSpPr/>
          <p:nvPr/>
        </p:nvSpPr>
        <p:spPr>
          <a:xfrm>
            <a:off x="7599829" y="2441090"/>
            <a:ext cx="1874520" cy="800099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Photodiode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9F8696-13B4-F600-9D6D-6A724127DF10}"/>
              </a:ext>
            </a:extLst>
          </p:cNvPr>
          <p:cNvSpPr/>
          <p:nvPr/>
        </p:nvSpPr>
        <p:spPr>
          <a:xfrm>
            <a:off x="7581900" y="4884420"/>
            <a:ext cx="1874520" cy="800099"/>
          </a:xfrm>
          <a:prstGeom prst="rect">
            <a:avLst/>
          </a:prstGeom>
          <a:solidFill>
            <a:srgbClr val="7030A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Signal Conditioning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9E3D06-5C18-0C9D-E931-64629A182C76}"/>
              </a:ext>
            </a:extLst>
          </p:cNvPr>
          <p:cNvSpPr/>
          <p:nvPr/>
        </p:nvSpPr>
        <p:spPr>
          <a:xfrm>
            <a:off x="1371600" y="4884420"/>
            <a:ext cx="2095500" cy="800099"/>
          </a:xfrm>
          <a:prstGeom prst="rect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Display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3EB939A5-59F8-92E0-FB8E-916F9BFCAA8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3393141" y="1616560"/>
            <a:ext cx="609600" cy="1221889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EBCEEC0-83FC-49E0-CBA7-984D0CFA298A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3393141" y="2838449"/>
            <a:ext cx="609600" cy="1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BB037C9-B75B-FDA3-DC0B-3CA6BA4CE123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5602941" y="1616560"/>
            <a:ext cx="1978959" cy="269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27CF74-9DA8-00AB-3476-38C60B9ABF7E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5602941" y="2838450"/>
            <a:ext cx="1996888" cy="269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45A55090-7E4B-CDD0-C6B4-5B1A02F89490}"/>
              </a:ext>
            </a:extLst>
          </p:cNvPr>
          <p:cNvCxnSpPr>
            <a:cxnSpLocks/>
            <a:stCxn id="12" idx="3"/>
            <a:endCxn id="17" idx="3"/>
          </p:cNvCxnSpPr>
          <p:nvPr/>
        </p:nvCxnSpPr>
        <p:spPr>
          <a:xfrm>
            <a:off x="9456420" y="1619250"/>
            <a:ext cx="12700" cy="3665220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6D48093-5A74-0478-3ECC-0A17748AE59C}"/>
              </a:ext>
            </a:extLst>
          </p:cNvPr>
          <p:cNvCxnSpPr>
            <a:cxnSpLocks/>
          </p:cNvCxnSpPr>
          <p:nvPr/>
        </p:nvCxnSpPr>
        <p:spPr>
          <a:xfrm>
            <a:off x="9456420" y="2838449"/>
            <a:ext cx="22098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25F647-F872-C26A-2971-C842130261E8}"/>
              </a:ext>
            </a:extLst>
          </p:cNvPr>
          <p:cNvCxnSpPr>
            <a:cxnSpLocks/>
          </p:cNvCxnSpPr>
          <p:nvPr/>
        </p:nvCxnSpPr>
        <p:spPr>
          <a:xfrm>
            <a:off x="2013920" y="3308349"/>
            <a:ext cx="16809" cy="158877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D0B88AD-758C-3127-47FD-DE7B72DACF3A}"/>
              </a:ext>
            </a:extLst>
          </p:cNvPr>
          <p:cNvSpPr/>
          <p:nvPr/>
        </p:nvSpPr>
        <p:spPr>
          <a:xfrm>
            <a:off x="4002741" y="3608071"/>
            <a:ext cx="1600200" cy="800100"/>
          </a:xfrm>
          <a:prstGeom prst="rect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Skin tone sensor (TCS34725)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B306BBFC-86B6-0EC6-30BB-13E4DE3420BD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3393141" y="2838449"/>
            <a:ext cx="609600" cy="1169672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C418174-427C-483D-F2B3-5E7B4A2C4CFB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>
            <a:off x="3067050" y="4405482"/>
            <a:ext cx="4514850" cy="878989"/>
          </a:xfrm>
          <a:prstGeom prst="bentConnector3">
            <a:avLst>
              <a:gd name="adj1" fmla="val 81505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16E758-A817-6DDE-078F-B89B5943B003}"/>
              </a:ext>
            </a:extLst>
          </p:cNvPr>
          <p:cNvCxnSpPr/>
          <p:nvPr/>
        </p:nvCxnSpPr>
        <p:spPr>
          <a:xfrm flipV="1">
            <a:off x="3067049" y="3308349"/>
            <a:ext cx="0" cy="109713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3454FE-6277-4256-F54C-D5D0EC97CD0B}"/>
              </a:ext>
            </a:extLst>
          </p:cNvPr>
          <p:cNvCxnSpPr/>
          <p:nvPr/>
        </p:nvCxnSpPr>
        <p:spPr>
          <a:xfrm>
            <a:off x="2781300" y="3295649"/>
            <a:ext cx="0" cy="160147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F54C88D9-F743-7F8A-FB87-1238E6211D3A}"/>
              </a:ext>
            </a:extLst>
          </p:cNvPr>
          <p:cNvCxnSpPr>
            <a:cxnSpLocks/>
            <a:stCxn id="5" idx="3"/>
            <a:endCxn id="17" idx="0"/>
          </p:cNvCxnSpPr>
          <p:nvPr/>
        </p:nvCxnSpPr>
        <p:spPr>
          <a:xfrm>
            <a:off x="5602941" y="4008121"/>
            <a:ext cx="2916219" cy="87629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0361556"/>
              </p:ext>
            </p:extLst>
          </p:nvPr>
        </p:nvGraphicFramePr>
        <p:xfrm>
          <a:off x="609600" y="1295400"/>
          <a:ext cx="10972800" cy="4846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601328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1116752">
                <a:tc>
                  <a:txBody>
                    <a:bodyPr/>
                    <a:lstStyle/>
                    <a:p>
                      <a:r>
                        <a:rPr lang="en-US" dirty="0"/>
                        <a:t>2Pcs Heart Rate Sensor Module MAX30102 Blood Oxygen Sensor Pulse Detections (</a:t>
                      </a:r>
                      <a:r>
                        <a:rPr lang="en-US" dirty="0">
                          <a:hlinkClick r:id="rId2"/>
                        </a:rPr>
                        <a:t>https://www.amazon.com/dp/B094JC48HQ?lv=shuf&amp;channelId=500&amp;plpRedirect=mhFallback</a:t>
                      </a:r>
                      <a:r>
                        <a:rPr lang="en-US" dirty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506"/>
                  </a:ext>
                </a:extLst>
              </a:tr>
              <a:tr h="859040">
                <a:tc>
                  <a:txBody>
                    <a:bodyPr/>
                    <a:lstStyle/>
                    <a:p>
                      <a:r>
                        <a:rPr lang="en-US" dirty="0"/>
                        <a:t>RGB Color sensor with IR filter and White LED – TCS34725 (</a:t>
                      </a:r>
                      <a:r>
                        <a:rPr lang="en-US" dirty="0">
                          <a:hlinkClick r:id="rId3"/>
                        </a:rPr>
                        <a:t>https://www.adafruit.com/product/1334?srsltid=AU7gw4WtW3GIkzt8NsHEu7ddisuv012--SP7927BKlD0fxF_SfNch-74</a:t>
                      </a:r>
                      <a:r>
                        <a:rPr lang="en-US" dirty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26612"/>
                  </a:ext>
                </a:extLst>
              </a:tr>
              <a:tr h="601328">
                <a:tc>
                  <a:txBody>
                    <a:bodyPr/>
                    <a:lstStyle/>
                    <a:p>
                      <a:r>
                        <a:rPr lang="en-US" dirty="0"/>
                        <a:t>3D printed casing for finger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 dependent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93575"/>
                  </a:ext>
                </a:extLst>
              </a:tr>
              <a:tr h="348388">
                <a:tc>
                  <a:txBody>
                    <a:bodyPr/>
                    <a:lstStyle/>
                    <a:p>
                      <a:r>
                        <a:rPr lang="en-US" dirty="0"/>
                        <a:t>Wires, resistors, etc.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OEDK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40897"/>
                  </a:ext>
                </a:extLst>
              </a:tr>
              <a:tr h="3483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356184"/>
                  </a:ext>
                </a:extLst>
              </a:tr>
              <a:tr h="3483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89299"/>
                  </a:ext>
                </a:extLst>
              </a:tr>
              <a:tr h="3483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70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9091</TotalTime>
  <Words>326</Words>
  <Application>Microsoft Office PowerPoint</Application>
  <PresentationFormat>Widescreen</PresentationFormat>
  <Paragraphs>61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Diamond Grid 16x9</vt:lpstr>
      <vt:lpstr>EDES 301  Inclusive, Low-Resource Pulse Oximeter Proposal</vt:lpstr>
      <vt:lpstr>Background Information</vt:lpstr>
      <vt:lpstr>System Block Diagram</vt:lpstr>
      <vt:lpstr>Power Block Diagram</vt:lpstr>
      <vt:lpstr>Components / Budget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Cristian Castillo</cp:lastModifiedBy>
  <cp:revision>415</cp:revision>
  <dcterms:created xsi:type="dcterms:W3CDTF">2018-01-09T20:24:50Z</dcterms:created>
  <dcterms:modified xsi:type="dcterms:W3CDTF">2026-10-04T20:13:43Z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